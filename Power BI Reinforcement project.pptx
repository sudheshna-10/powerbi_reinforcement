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16"/>
  </p:notesMasterIdLst>
  <p:handoutMasterIdLst>
    <p:handoutMasterId r:id="rId17"/>
  </p:handoutMasterIdLst>
  <p:sldIdLst>
    <p:sldId id="300" r:id="rId5"/>
    <p:sldId id="299" r:id="rId6"/>
    <p:sldId id="301" r:id="rId7"/>
    <p:sldId id="305" r:id="rId8"/>
    <p:sldId id="302" r:id="rId9"/>
    <p:sldId id="303" r:id="rId10"/>
    <p:sldId id="304" r:id="rId11"/>
    <p:sldId id="306" r:id="rId12"/>
    <p:sldId id="307" r:id="rId13"/>
    <p:sldId id="308" r:id="rId14"/>
    <p:sldId id="2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6327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2761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709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877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80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73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688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261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1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1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711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77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530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26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E79-732D-4912-8605-58AECCF71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Power BI Reinforcement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16D4E-3D80-DE13-E962-D2B4193A6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1130" y="4337331"/>
            <a:ext cx="3298638" cy="1655762"/>
          </a:xfrm>
        </p:spPr>
        <p:txBody>
          <a:bodyPr/>
          <a:lstStyle/>
          <a:p>
            <a:r>
              <a:rPr lang="en-IN" dirty="0"/>
              <a:t>Presented By: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              Sudheshna M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              DADS(July A)</a:t>
            </a:r>
          </a:p>
        </p:txBody>
      </p:sp>
    </p:spTree>
    <p:extLst>
      <p:ext uri="{BB962C8B-B14F-4D97-AF65-F5344CB8AC3E}">
        <p14:creationId xmlns:p14="http://schemas.microsoft.com/office/powerpoint/2010/main" val="348149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4266-EBE6-CE10-F7DA-E0E9E4CA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3DDC0-9849-6939-A294-995AC69F5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790700"/>
            <a:ext cx="10026650" cy="4466665"/>
          </a:xfrm>
        </p:spPr>
        <p:txBody>
          <a:bodyPr>
            <a:noAutofit/>
          </a:bodyPr>
          <a:lstStyle/>
          <a:p>
            <a:r>
              <a:rPr lang="en-US" sz="1400" dirty="0"/>
              <a:t>The Dataset [COVID-19] contains global</a:t>
            </a:r>
            <a:r>
              <a:rPr lang="en-US" sz="1400" b="1" dirty="0"/>
              <a:t> </a:t>
            </a:r>
            <a:r>
              <a:rPr lang="en-US" sz="1400" dirty="0"/>
              <a:t>country-level</a:t>
            </a:r>
            <a:r>
              <a:rPr lang="en-US" sz="1400" b="1" dirty="0"/>
              <a:t> </a:t>
            </a:r>
            <a:r>
              <a:rPr lang="en-US" sz="1400" dirty="0"/>
              <a:t>COVID-19 statistics, capturing confirmed cases, active cases, recoveries, deaths, and week-over-week changes. Each row represents a country, making it suitable for comparative analysis, KPI generation, and geographic visualization in Power BI.</a:t>
            </a:r>
          </a:p>
          <a:p>
            <a:r>
              <a:rPr lang="en-US" sz="1400" b="1" dirty="0"/>
              <a:t>Dataset Size</a:t>
            </a:r>
          </a:p>
          <a:p>
            <a:r>
              <a:rPr lang="en-US" sz="1400" dirty="0"/>
              <a:t>Total Rows: 180</a:t>
            </a:r>
          </a:p>
          <a:p>
            <a:r>
              <a:rPr lang="en-US" sz="1400" dirty="0"/>
              <a:t>Total Columns: 15</a:t>
            </a:r>
          </a:p>
          <a:p>
            <a:r>
              <a:rPr lang="en-US" sz="1400" b="1" dirty="0"/>
              <a:t>Data Quality Summary</a:t>
            </a:r>
          </a:p>
          <a:p>
            <a:r>
              <a:rPr lang="en-US" sz="1400" dirty="0"/>
              <a:t>No duplicate rows</a:t>
            </a:r>
          </a:p>
          <a:p>
            <a:r>
              <a:rPr lang="en-US" sz="1400" dirty="0"/>
              <a:t>No missing values</a:t>
            </a:r>
          </a:p>
          <a:p>
            <a:r>
              <a:rPr lang="en-US" sz="1400" dirty="0"/>
              <a:t>12 negative values found (replaced with 0)</a:t>
            </a:r>
          </a:p>
          <a:p>
            <a:r>
              <a:rPr lang="en-US" sz="1400" dirty="0"/>
              <a:t>All numeric fields valid</a:t>
            </a:r>
          </a:p>
          <a:p>
            <a:r>
              <a:rPr lang="en-US" sz="1400" dirty="0"/>
              <a:t>Country names clean and map-ready</a:t>
            </a:r>
          </a:p>
          <a:p>
            <a:endParaRPr lang="en-US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578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1C06-DA24-186A-1630-8F298380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metrics: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0713-9AA3-D830-8F8E-E8E77118A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confirmed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16M</a:t>
            </a:r>
          </a:p>
          <a:p>
            <a:r>
              <a:rPr lang="en-US" dirty="0"/>
              <a:t>Total deaths </a:t>
            </a:r>
            <a:r>
              <a:rPr lang="en-US" dirty="0">
                <a:sym typeface="Wingdings" panose="05000000000000000000" pitchFamily="2" charset="2"/>
              </a:rPr>
              <a:t> 1M</a:t>
            </a:r>
            <a:endParaRPr lang="en-US" dirty="0"/>
          </a:p>
          <a:p>
            <a:r>
              <a:rPr lang="en-US" dirty="0"/>
              <a:t>Total Recovered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9M</a:t>
            </a:r>
          </a:p>
          <a:p>
            <a:r>
              <a:rPr lang="en-US" dirty="0"/>
              <a:t>Total Active </a:t>
            </a:r>
            <a:r>
              <a:rPr lang="en-US" dirty="0">
                <a:sym typeface="Wingdings" panose="05000000000000000000" pitchFamily="2" charset="2"/>
              </a:rPr>
              <a:t> 6M</a:t>
            </a:r>
            <a:endParaRPr lang="en-US" dirty="0"/>
          </a:p>
          <a:p>
            <a:r>
              <a:rPr lang="en-US" dirty="0"/>
              <a:t>Total New Cases </a:t>
            </a:r>
            <a:r>
              <a:rPr lang="en-US" dirty="0">
                <a:sym typeface="Wingdings" panose="05000000000000000000" pitchFamily="2" charset="2"/>
              </a:rPr>
              <a:t> 229K</a:t>
            </a:r>
          </a:p>
          <a:p>
            <a:r>
              <a:rPr lang="en-US" dirty="0">
                <a:sym typeface="Wingdings" panose="05000000000000000000" pitchFamily="2" charset="2"/>
              </a:rPr>
              <a:t>Total New Deaths  5K</a:t>
            </a:r>
          </a:p>
          <a:p>
            <a:r>
              <a:rPr lang="en-US" dirty="0">
                <a:sym typeface="Wingdings" panose="05000000000000000000" pitchFamily="2" charset="2"/>
              </a:rPr>
              <a:t>Total New Recovered  175K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59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14A9-2F8B-33FE-8D02-A86974B2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Total Confirmed &amp; Deaths by WHO Region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E1E34-DDA3-4C79-6DEC-409AFD0FB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790700"/>
            <a:ext cx="6791512" cy="3978275"/>
          </a:xfrm>
        </p:spPr>
        <p:txBody>
          <a:bodyPr>
            <a:normAutofit fontScale="925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Americas lead with the highest confirmed cases and deaths.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Europe follows with a large number of confirmed cases.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South-East Asia shows high confirmed cases, especially due to large populations.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Eastern Mediterranean has moderate but significant case numbers.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Africa reports comparatively lower totals but still notable.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Western Pacific shows the lowest levels among all regions.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7FC09-1474-1EFA-97F6-6CAACFD5B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652" y="2525057"/>
            <a:ext cx="4105848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613E-5DA8-565F-588A-EEB85561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Geographic Map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3B4C-F206-AD7A-73B5-643597D03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790700"/>
            <a:ext cx="6612218" cy="3978275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world map highlights the distribution of active cases across countries.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Larger bubble sizes represent higher active case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North &amp; South America show dense, large clusters of active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Europe has widespread distribution across multiple countries.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South-East Asia shows significant activity in heavily populated nations.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Africa shows moderate clustering with fewer extreme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Western Pacific includes Australia and East Asia with visible but varied case levels.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16ECC-4F3D-066D-54B0-8180C0298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718" y="2238749"/>
            <a:ext cx="4286848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7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9CD2-321A-69FD-C5D2-5930167F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One-Week % Increase by WHO Region (Donut Chart)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1C80-EDF5-0375-5115-2913EF15A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1961029"/>
            <a:ext cx="6486712" cy="397827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Americas show the highest weekly increase, contributing over one-third of global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Europe and Western Pacific also show steady percentage increases.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South-East Asia contributes around one-fifth of the week’s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Africa and Eastern Mediterranean show moderate week-over-week growth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These trends help in identifying regions.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8516D-D71E-DA12-9071-D6EB9326C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629" y="2380791"/>
            <a:ext cx="4324954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1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5515-9C09-8584-5B10-457F73AA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Total Active Cases by Country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C99B0-D8CE-AB07-A217-99EFB3F6B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2314642"/>
            <a:ext cx="6334312" cy="3978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US</a:t>
            </a:r>
            <a:r>
              <a:rPr lang="en-US" dirty="0"/>
              <a:t> has the highest active case count globally.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Brazil</a:t>
            </a:r>
            <a:r>
              <a:rPr lang="en-US" dirty="0"/>
              <a:t> and </a:t>
            </a:r>
            <a:r>
              <a:rPr lang="en-US" b="1" dirty="0"/>
              <a:t>India</a:t>
            </a:r>
            <a:r>
              <a:rPr lang="en-US" dirty="0"/>
              <a:t> follow closely with large active caseloads.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United Kingdom</a:t>
            </a:r>
            <a:r>
              <a:rPr lang="en-US" dirty="0"/>
              <a:t> and </a:t>
            </a:r>
            <a:r>
              <a:rPr lang="en-US" b="1" dirty="0"/>
              <a:t>Russia</a:t>
            </a:r>
            <a:r>
              <a:rPr lang="en-US" dirty="0"/>
              <a:t> also hold significant numbers.</a:t>
            </a:r>
            <a:br>
              <a:rPr lang="en-US" dirty="0"/>
            </a:br>
            <a:r>
              <a:rPr lang="en-US" dirty="0"/>
              <a:t>• This ranking helps identify countries needing the most healthcare response.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B40D51-2B4E-DCA0-E447-8314C3AA0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812" y="2372912"/>
            <a:ext cx="4134427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22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B0B71-921D-8635-092B-C71101E5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Country &amp; WHO Region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E0202-FC54-F57B-0585-C8A565A43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Interactive slicers allow users to select a specific country or region.</a:t>
            </a:r>
            <a:br>
              <a:rPr lang="en-US" dirty="0"/>
            </a:br>
            <a:r>
              <a:rPr lang="en-US" dirty="0"/>
              <a:t>• Filters update all visuals instantly for customized analysis.</a:t>
            </a:r>
            <a:br>
              <a:rPr lang="en-US" dirty="0"/>
            </a:br>
            <a:r>
              <a:rPr lang="en-US" dirty="0"/>
              <a:t>• Useful for focusing on particular regions during presentations or reports.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F87AC-1C5C-AD59-9684-CDE1E373D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3444533"/>
            <a:ext cx="8659433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53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037DE8D-0601-3A68-1814-CE640CF9F6B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588" b="2588"/>
          <a:stretch/>
        </p:blipFill>
        <p:spPr>
          <a:xfrm>
            <a:off x="625475" y="531813"/>
            <a:ext cx="11025188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93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478E-CB91-996F-031B-F4F0B493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E2226-55CA-C3A5-2DA3-0918B6859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 </a:t>
            </a:r>
            <a:r>
              <a:rPr lang="en-US" b="1" dirty="0"/>
              <a:t>Americas</a:t>
            </a:r>
            <a:r>
              <a:rPr lang="en-US" dirty="0"/>
              <a:t> have the highest cases and deaths among all regions.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Europe</a:t>
            </a:r>
            <a:r>
              <a:rPr lang="en-US" dirty="0"/>
              <a:t> also shows high impact with strong case concentration.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South-East Asia</a:t>
            </a:r>
            <a:r>
              <a:rPr lang="en-US" dirty="0"/>
              <a:t> shows moderate to high activity with large population influence.</a:t>
            </a:r>
            <a:br>
              <a:rPr lang="en-US" dirty="0"/>
            </a:br>
            <a:r>
              <a:rPr lang="en-US" dirty="0"/>
              <a:t>• The </a:t>
            </a:r>
            <a:r>
              <a:rPr lang="en-US" b="1" dirty="0"/>
              <a:t>world map</a:t>
            </a:r>
            <a:r>
              <a:rPr lang="en-US" dirty="0"/>
              <a:t> highlights major hotspots in North America, South America, Europe, and Asia.</a:t>
            </a:r>
            <a:br>
              <a:rPr lang="en-US" dirty="0"/>
            </a:br>
            <a:r>
              <a:rPr lang="en-US" dirty="0"/>
              <a:t>• Weekly percentage increase is highest in the </a:t>
            </a:r>
            <a:r>
              <a:rPr lang="en-US" b="1" dirty="0"/>
              <a:t>Americas</a:t>
            </a:r>
            <a:r>
              <a:rPr lang="en-US" dirty="0"/>
              <a:t>, indicating fresh surges.</a:t>
            </a:r>
            <a:br>
              <a:rPr lang="en-US" dirty="0"/>
            </a:br>
            <a:r>
              <a:rPr lang="en-US" dirty="0"/>
              <a:t>• Countries with highest active cases: </a:t>
            </a:r>
            <a:r>
              <a:rPr lang="en-US" b="1" dirty="0"/>
              <a:t>US, Brazil, India, UK, Russia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109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25" y="952128"/>
            <a:ext cx="4451349" cy="208222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5126FD-8B44-46F3-BEB2-D5456E7691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021420E-D6CD-4398-9C5C-03FBF6887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0C3F92-C0AD-4E73-8A22-9D413A456BA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Leaf design</Template>
  <TotalTime>138</TotalTime>
  <Words>534</Words>
  <Application>Microsoft Office PowerPoint</Application>
  <PresentationFormat>Widescreen</PresentationFormat>
  <Paragraphs>52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Avenir Next LT Pro Light</vt:lpstr>
      <vt:lpstr>Calibri</vt:lpstr>
      <vt:lpstr>Rockwell Nova Light</vt:lpstr>
      <vt:lpstr>Wingdings</vt:lpstr>
      <vt:lpstr>LeafVTI</vt:lpstr>
      <vt:lpstr>Power BI Reinforcement project</vt:lpstr>
      <vt:lpstr>DATASET Overview:</vt:lpstr>
      <vt:lpstr>Key metrics:</vt:lpstr>
      <vt:lpstr>Total Confirmed &amp; Deaths by WHO Region</vt:lpstr>
      <vt:lpstr>Geographic Map View</vt:lpstr>
      <vt:lpstr>One-Week % Increase by WHO Region (Donut Chart)</vt:lpstr>
      <vt:lpstr>Total Active Cases by Country</vt:lpstr>
      <vt:lpstr>Country &amp; WHO Region Filters</vt:lpstr>
      <vt:lpstr>PowerPoint Presentation</vt:lpstr>
      <vt:lpstr>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Sudheshna M</dc:creator>
  <cp:lastModifiedBy>Sudheshna M</cp:lastModifiedBy>
  <cp:revision>1</cp:revision>
  <dcterms:created xsi:type="dcterms:W3CDTF">2025-12-04T14:53:56Z</dcterms:created>
  <dcterms:modified xsi:type="dcterms:W3CDTF">2025-12-04T17:12:49Z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